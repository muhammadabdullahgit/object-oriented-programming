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39" autoAdjust="0"/>
    <p:restoredTop sz="94619" autoAdjust="0"/>
  </p:normalViewPr>
  <p:slideViewPr>
    <p:cSldViewPr snapToGrid="0">
      <p:cViewPr varScale="1">
        <p:scale>
          <a:sx n="60" d="100"/>
          <a:sy n="60"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b="1" dirty="0"/>
            <a:t>Umar Ahmad</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endParaRPr lang="en-US" dirty="0"/>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E80CA270-6C90-4E17-ACEA-46B56AD54DD1}">
      <dgm:prSet/>
      <dgm:spPr/>
      <dgm:t>
        <a:bodyPr/>
        <a:lstStyle/>
        <a:p>
          <a:r>
            <a:rPr lang="en-US" b="1" dirty="0"/>
            <a:t>Ali Hasnain</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dgm:t>
        <a:bodyPr/>
        <a:lstStyle/>
        <a:p>
          <a:r>
            <a:rPr lang="en-US" b="1" dirty="0"/>
            <a:t>M Abdullah</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endParaRPr lang="en-US" dirty="0"/>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custLinFactY="-200000" custLinFactNeighborX="-30717" custLinFactNeighborY="-24760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custLinFactX="2247808" custLinFactY="-88428" custLinFactNeighborX="2300000" custLinFactNeighborY="-100000"/>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custLinFactX="6400000" custLinFactY="1770868" custLinFactNeighborX="6433554" custLinFactNeighborY="1800000"/>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70FFB823-5D32-4024-AED6-0A57F85156F0}" type="pres">
      <dgm:prSet presAssocID="{E80CA270-6C90-4E17-ACEA-46B56AD54DD1}" presName="composite1" presStyleCnt="0"/>
      <dgm:spPr/>
    </dgm:pt>
    <dgm:pt modelId="{2B9D2E40-63E0-4AF9-B168-4CDAD7181851}" type="pres">
      <dgm:prSet presAssocID="{E80CA270-6C90-4E17-ACEA-46B56AD54DD1}" presName="parent1" presStyleLbl="alignNode1" presStyleIdx="1" presStyleCnt="3" custLinFactX="-30691" custLinFactY="-100000" custLinFactNeighborX="-100000" custLinFactNeighborY="-157934">
        <dgm:presLayoutVars>
          <dgm:chMax val="1"/>
          <dgm:chPref val="1"/>
          <dgm:bulletEnabled val="1"/>
        </dgm:presLayoutVars>
      </dgm:prSet>
      <dgm:spPr/>
    </dgm:pt>
    <dgm:pt modelId="{3C2BD553-4408-48BE-89B2-15FDE1C69DC7}" type="pres">
      <dgm:prSet presAssocID="{E80CA270-6C90-4E17-ACEA-46B56AD54DD1}" presName="Childtext1" presStyleLbl="revTx" presStyleIdx="1" presStyleCnt="3">
        <dgm:presLayoutVars>
          <dgm:bulletEnabled val="1"/>
        </dgm:presLayoutVars>
      </dgm:prSet>
      <dgm:spPr/>
    </dgm:pt>
    <dgm:pt modelId="{80B63557-D3E9-4FFC-821A-0065D3EC42BC}" type="pres">
      <dgm:prSet presAssocID="{E80CA270-6C90-4E17-ACEA-46B56AD54DD1}" presName="ConnectLine1" presStyleLbl="sibTrans1D1" presStyleIdx="1" presStyleCnt="3" custFlipVert="1" custFlipHor="1" custSzX="45720" custScaleY="17574"/>
      <dgm:spPr>
        <a:noFill/>
        <a:ln w="12700" cap="rnd" cmpd="sng" algn="ctr">
          <a:solidFill>
            <a:schemeClr val="accent1">
              <a:shade val="90000"/>
              <a:hueOff val="223106"/>
              <a:satOff val="-4301"/>
              <a:lumOff val="14062"/>
              <a:alphaOff val="0"/>
            </a:schemeClr>
          </a:solidFill>
          <a:prstDash val="dash"/>
        </a:ln>
        <a:effectLst/>
      </dgm:spPr>
    </dgm:pt>
    <dgm:pt modelId="{C8CA9C36-1ECF-4F07-A121-564B994E8A39}" type="pres">
      <dgm:prSet presAssocID="{E80CA270-6C90-4E17-ACEA-46B56AD54DD1}" presName="ConnectLineEnd1" presStyleLbl="lnNode1" presStyleIdx="1" presStyleCnt="3" custLinFactX="4500000" custLinFactY="-227242" custLinFactNeighborX="4535014" custLinFactNeighborY="-300000"/>
      <dgm:spPr/>
    </dgm:pt>
    <dgm:pt modelId="{6CE20712-E005-43DB-9705-EB403D3A570F}" type="pres">
      <dgm:prSet presAssocID="{E80CA270-6C90-4E17-ACEA-46B56AD54DD1}" presName="EmptyPane1" presStyleCnt="0"/>
      <dgm:spPr/>
    </dgm:pt>
    <dgm:pt modelId="{260C59AC-BF1D-4480-84EC-E2DE8A4890E1}" type="pres">
      <dgm:prSet presAssocID="{1AFE46E5-6B07-4894-8ECB-21BD7E7B8AF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custLinFactX="-100000" custLinFactNeighborX="-130376" custLinFactNeighborY="-69500">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34DB8B14-CD98-4030-827A-6617F608124A}" type="presOf" srcId="{E80CA270-6C90-4E17-ACEA-46B56AD54DD1}" destId="{2B9D2E40-63E0-4AF9-B168-4CDAD718185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6A70FD8F-0050-42E3-8B3A-6ED7CFB9852E}" destId="{E80CA270-6C90-4E17-ACEA-46B56AD54DD1}" srcOrd="1"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AF45CA8-994F-4121-9564-5DDEAF0A30CC}" type="presParOf" srcId="{AB52B3CC-6563-466D-BFC3-9B6B5AFA0881}" destId="{70FFB823-5D32-4024-AED6-0A57F85156F0}" srcOrd="2" destOrd="0" presId="urn:microsoft.com/office/officeart/2016/7/layout/RoundedRectangleTimeline"/>
    <dgm:cxn modelId="{BB54BFBF-52A0-4566-BD06-4A4703C07331}" type="presParOf" srcId="{70FFB823-5D32-4024-AED6-0A57F85156F0}" destId="{2B9D2E40-63E0-4AF9-B168-4CDAD7181851}" srcOrd="0" destOrd="0" presId="urn:microsoft.com/office/officeart/2016/7/layout/RoundedRectangleTimeline"/>
    <dgm:cxn modelId="{320C77EA-CB28-49B4-B1B3-17D16DC58E23}" type="presParOf" srcId="{70FFB823-5D32-4024-AED6-0A57F85156F0}" destId="{3C2BD553-4408-48BE-89B2-15FDE1C69DC7}" srcOrd="1" destOrd="0" presId="urn:microsoft.com/office/officeart/2016/7/layout/RoundedRectangleTimeline"/>
    <dgm:cxn modelId="{4F17E01C-553C-4BE4-9050-5598437604E7}" type="presParOf" srcId="{70FFB823-5D32-4024-AED6-0A57F85156F0}" destId="{80B63557-D3E9-4FFC-821A-0065D3EC42BC}" srcOrd="2" destOrd="0" presId="urn:microsoft.com/office/officeart/2016/7/layout/RoundedRectangleTimeline"/>
    <dgm:cxn modelId="{97A607C9-A34A-4E10-9EFC-DCE49A7C2F4C}" type="presParOf" srcId="{70FFB823-5D32-4024-AED6-0A57F85156F0}" destId="{C8CA9C36-1ECF-4F07-A121-564B994E8A39}" srcOrd="3" destOrd="0" presId="urn:microsoft.com/office/officeart/2016/7/layout/RoundedRectangleTimeline"/>
    <dgm:cxn modelId="{C76BEA61-2199-4AC6-B2C4-3DCC88030CFC}" type="presParOf" srcId="{70FFB823-5D32-4024-AED6-0A57F85156F0}" destId="{6CE20712-E005-43DB-9705-EB403D3A570F}" srcOrd="4" destOrd="0" presId="urn:microsoft.com/office/officeart/2016/7/layout/RoundedRectangleTimeline"/>
    <dgm:cxn modelId="{2C3CF119-EA23-4B97-AB2B-491176158FD2}" type="presParOf" srcId="{AB52B3CC-6563-466D-BFC3-9B6B5AFA0881}" destId="{260C59AC-BF1D-4480-84EC-E2DE8A4890E1}"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1404938" y="-1312215"/>
          <a:ext cx="363378"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b="1" kern="1200" dirty="0"/>
            <a:t>Umar Ahmad</a:t>
          </a:r>
        </a:p>
      </dsp:txBody>
      <dsp:txXfrm rot="5400000">
        <a:off x="101752" y="26449"/>
        <a:ext cx="2987491" cy="327900"/>
      </dsp:txXfrm>
    </dsp:sp>
    <dsp:sp modelId="{5A1B764B-0DC5-47CD-BDEA-9E67799496EC}">
      <dsp:nvSpPr>
        <dsp:cNvPr id="0" name=""/>
        <dsp:cNvSpPr/>
      </dsp:nvSpPr>
      <dsp:spPr>
        <a:xfrm>
          <a:off x="5385"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endParaRPr lang="en-US" sz="1100" kern="1200" dirty="0"/>
        </a:p>
      </dsp:txBody>
      <dsp:txXfrm>
        <a:off x="5385" y="0"/>
        <a:ext cx="5008717" cy="1271825"/>
      </dsp:txXfrm>
    </dsp:sp>
    <dsp:sp modelId="{122B38A3-0442-4747-820C-1F37877E2B0E}">
      <dsp:nvSpPr>
        <dsp:cNvPr id="0" name=""/>
        <dsp:cNvSpPr/>
      </dsp:nvSpPr>
      <dsp:spPr>
        <a:xfrm>
          <a:off x="4146955" y="796735"/>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10957274" y="3561111"/>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D2E40-63E0-4AF9-B168-4CDAD7181851}">
      <dsp:nvSpPr>
        <dsp:cNvPr id="0" name=""/>
        <dsp:cNvSpPr/>
      </dsp:nvSpPr>
      <dsp:spPr>
        <a:xfrm>
          <a:off x="84793" y="697926"/>
          <a:ext cx="3005230" cy="363378"/>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b="1" kern="1200" dirty="0"/>
            <a:t>Ali Hasnain</a:t>
          </a:r>
        </a:p>
      </dsp:txBody>
      <dsp:txXfrm>
        <a:off x="84793" y="697926"/>
        <a:ext cx="3005230" cy="363378"/>
      </dsp:txXfrm>
    </dsp:sp>
    <dsp:sp modelId="{3C2BD553-4408-48BE-89B2-15FDE1C69DC7}">
      <dsp:nvSpPr>
        <dsp:cNvPr id="0" name=""/>
        <dsp:cNvSpPr/>
      </dsp:nvSpPr>
      <dsp:spPr>
        <a:xfrm>
          <a:off x="3010616" y="2361961"/>
          <a:ext cx="5008717" cy="1271825"/>
        </a:xfrm>
        <a:prstGeom prst="rect">
          <a:avLst/>
        </a:prstGeom>
        <a:noFill/>
        <a:ln>
          <a:noFill/>
        </a:ln>
        <a:effectLst/>
      </dsp:spPr>
      <dsp:style>
        <a:lnRef idx="0">
          <a:scrgbClr r="0" g="0" b="0"/>
        </a:lnRef>
        <a:fillRef idx="0">
          <a:scrgbClr r="0" g="0" b="0"/>
        </a:fillRef>
        <a:effectRef idx="0">
          <a:scrgbClr r="0" g="0" b="0"/>
        </a:effectRef>
        <a:fontRef idx="minor"/>
      </dsp:style>
    </dsp:sp>
    <dsp:sp modelId="{80B63557-D3E9-4FFC-821A-0065D3EC42BC}">
      <dsp:nvSpPr>
        <dsp:cNvPr id="0" name=""/>
        <dsp:cNvSpPr/>
      </dsp:nvSpPr>
      <dsp:spPr>
        <a:xfrm flipH="1" flipV="1">
          <a:off x="5492114" y="2118390"/>
          <a:ext cx="45720" cy="51088"/>
        </a:xfrm>
        <a:prstGeom prst="line">
          <a:avLst/>
        </a:prstGeom>
        <a:noFill/>
        <a:ln w="12700" cap="rnd" cmpd="sng" algn="ctr">
          <a:solidFill>
            <a:schemeClr val="accent1">
              <a:shade val="90000"/>
              <a:hueOff val="223106"/>
              <a:satOff val="-4301"/>
              <a:lumOff val="14062"/>
              <a:alphaOff val="0"/>
            </a:schemeClr>
          </a:solidFill>
          <a:prstDash val="dash"/>
        </a:ln>
        <a:effectLst/>
      </dsp:spPr>
      <dsp:style>
        <a:lnRef idx="1">
          <a:scrgbClr r="0" g="0" b="0"/>
        </a:lnRef>
        <a:fillRef idx="0">
          <a:scrgbClr r="0" g="0" b="0"/>
        </a:fillRef>
        <a:effectRef idx="0">
          <a:scrgbClr r="0" g="0" b="0"/>
        </a:effectRef>
        <a:fontRef idx="minor"/>
      </dsp:style>
    </dsp:sp>
    <dsp:sp modelId="{C8CA9C36-1ECF-4F07-A121-564B994E8A39}">
      <dsp:nvSpPr>
        <dsp:cNvPr id="0" name=""/>
        <dsp:cNvSpPr/>
      </dsp:nvSpPr>
      <dsp:spPr>
        <a:xfrm>
          <a:off x="10957274" y="1906108"/>
          <a:ext cx="72675" cy="72675"/>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1415186" y="61730"/>
          <a:ext cx="363378"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b="1" kern="1200" dirty="0"/>
            <a:t>M Abdullah</a:t>
          </a:r>
        </a:p>
      </dsp:txBody>
      <dsp:txXfrm rot="-5400000">
        <a:off x="94261" y="1400395"/>
        <a:ext cx="2987491" cy="327900"/>
      </dsp:txXfrm>
    </dsp:sp>
    <dsp:sp modelId="{B4723E2A-4FF1-452A-BD25-8EC364F15A6F}">
      <dsp:nvSpPr>
        <dsp:cNvPr id="0" name=""/>
        <dsp:cNvSpPr/>
      </dsp:nvSpPr>
      <dsp:spPr>
        <a:xfrm>
          <a:off x="6015846"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endParaRPr lang="en-US" sz="1100" kern="1200" dirty="0"/>
        </a:p>
      </dsp:txBody>
      <dsp:txXfrm>
        <a:off x="6015846" y="0"/>
        <a:ext cx="5008717" cy="1271825"/>
      </dsp:txXfrm>
    </dsp:sp>
    <dsp:sp modelId="{440E9361-37D2-4157-AF38-7B49AD23708B}">
      <dsp:nvSpPr>
        <dsp:cNvPr id="0" name=""/>
        <dsp:cNvSpPr/>
      </dsp:nvSpPr>
      <dsp:spPr>
        <a:xfrm>
          <a:off x="8520205"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83867" y="127182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DAE16B-4A1F-4447-8084-2BFE4417B2B6}" type="datetimeFigureOut">
              <a:rPr lang="en-US" smtClean="0"/>
              <a:t>5/6/2024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415E9-4AA4-4C07-A454-EA935CF4A644}" type="slidenum">
              <a:rPr lang="en-US" smtClean="0"/>
              <a:t>‹#›</a:t>
            </a:fld>
            <a:endParaRPr lang="en-US"/>
          </a:p>
        </p:txBody>
      </p:sp>
    </p:spTree>
    <p:extLst>
      <p:ext uri="{BB962C8B-B14F-4D97-AF65-F5344CB8AC3E}">
        <p14:creationId xmlns:p14="http://schemas.microsoft.com/office/powerpoint/2010/main" val="3902158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415E9-4AA4-4C07-A454-EA935CF4A644}" type="slidenum">
              <a:rPr lang="en-US" smtClean="0"/>
              <a:t>2</a:t>
            </a:fld>
            <a:endParaRPr lang="en-US"/>
          </a:p>
        </p:txBody>
      </p:sp>
    </p:spTree>
    <p:extLst>
      <p:ext uri="{BB962C8B-B14F-4D97-AF65-F5344CB8AC3E}">
        <p14:creationId xmlns:p14="http://schemas.microsoft.com/office/powerpoint/2010/main" val="4270891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5/6/2024</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5/6/2024</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5/6/2024</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5/6/2024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5/6/2024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5/6/2024</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5/6/2024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5/6/2024</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5/6/2024</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colegiomanuelrodriguez.cl/mr/exelearning/8IngU3/new_places.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hyperlink" Target="https://www.publicdomainpictures.net/en/view-image.php?image=271653&amp;picture=invoice-payment"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s://railuk.com/rail-news/new-direct-award-contract-for-southeaste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394279" y="-4774"/>
            <a:ext cx="10993549" cy="1475013"/>
          </a:xfrm>
        </p:spPr>
        <p:txBody>
          <a:bodyPr>
            <a:normAutofit/>
          </a:bodyPr>
          <a:lstStyle/>
          <a:p>
            <a:r>
              <a:rPr lang="en-US" dirty="0"/>
              <a:t>Railway management system</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2293" y="1663612"/>
            <a:ext cx="10993546" cy="1536620"/>
          </a:xfrm>
        </p:spPr>
        <p:txBody>
          <a:bodyPr>
            <a:normAutofit/>
          </a:bodyPr>
          <a:lstStyle/>
          <a:p>
            <a:r>
              <a:rPr lang="en-US" b="1" dirty="0"/>
              <a:t>Group. f</a:t>
            </a:r>
          </a:p>
          <a:p>
            <a:pPr marL="342900" indent="-342900">
              <a:buAutoNum type="arabicPeriod"/>
            </a:pPr>
            <a:r>
              <a:rPr lang="en-US" dirty="0"/>
              <a:t>Umar Ahmad bsse23032</a:t>
            </a:r>
          </a:p>
          <a:p>
            <a:pPr marL="342900" indent="-342900">
              <a:buAutoNum type="arabicPeriod"/>
            </a:pPr>
            <a:r>
              <a:rPr lang="en-US" dirty="0"/>
              <a:t>Ali Hasnain bsse23066</a:t>
            </a:r>
          </a:p>
          <a:p>
            <a:pPr marL="342900" indent="-342900">
              <a:buAutoNum type="arabicPeriod"/>
            </a:pPr>
            <a:r>
              <a:rPr lang="en-US" dirty="0"/>
              <a:t>Muhammad Abdullah bsse23100</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428999"/>
            <a:ext cx="11260667" cy="2963333"/>
          </a:xfrm>
          <a:prstGeom prst="rect">
            <a:avLst/>
          </a:prstGeom>
        </p:spPr>
      </p:pic>
      <p:pic>
        <p:nvPicPr>
          <p:cNvPr id="5" name="Picture 4">
            <a:extLst>
              <a:ext uri="{FF2B5EF4-FFF2-40B4-BE49-F238E27FC236}">
                <a16:creationId xmlns:a16="http://schemas.microsoft.com/office/drawing/2014/main" id="{56367215-3410-1C5A-417B-7E7FEF6D2190}"/>
              </a:ext>
            </a:extLst>
          </p:cNvPr>
          <p:cNvPicPr>
            <a:picLocks noChangeAspect="1"/>
          </p:cNvPicPr>
          <p:nvPr/>
        </p:nvPicPr>
        <p:blipFill>
          <a:blip r:embed="rId3"/>
          <a:stretch>
            <a:fillRect/>
          </a:stretch>
        </p:blipFill>
        <p:spPr>
          <a:xfrm>
            <a:off x="7872520" y="1663612"/>
            <a:ext cx="3703320" cy="1494837"/>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858912"/>
            <a:ext cx="11029616" cy="1188720"/>
          </a:xfrm>
        </p:spPr>
        <p:txBody>
          <a:bodyPr/>
          <a:lstStyle/>
          <a:p>
            <a:r>
              <a:rPr lang="en-US" dirty="0"/>
              <a:t>Task Division</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1537267995"/>
              </p:ext>
            </p:extLst>
          </p:nvPr>
        </p:nvGraphicFramePr>
        <p:xfrm>
          <a:off x="581025" y="3125330"/>
          <a:ext cx="11029950" cy="36337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1505AEC7-AE4E-FC41-4479-E7634E5494AA}"/>
              </a:ext>
            </a:extLst>
          </p:cNvPr>
          <p:cNvSpPr txBox="1"/>
          <p:nvPr/>
        </p:nvSpPr>
        <p:spPr>
          <a:xfrm>
            <a:off x="3753395" y="3107918"/>
            <a:ext cx="7857414" cy="369332"/>
          </a:xfrm>
          <a:prstGeom prst="rect">
            <a:avLst/>
          </a:prstGeom>
          <a:noFill/>
        </p:spPr>
        <p:txBody>
          <a:bodyPr wrap="square" rtlCol="0">
            <a:spAutoFit/>
          </a:bodyPr>
          <a:lstStyle/>
          <a:p>
            <a:r>
              <a:rPr lang="en-US" dirty="0"/>
              <a:t>Admin-&gt; Route-&gt; Date and time-&gt;Schedule-&gt;Station-&gt;Platform-&gt;Announcement</a:t>
            </a:r>
          </a:p>
        </p:txBody>
      </p:sp>
      <p:sp>
        <p:nvSpPr>
          <p:cNvPr id="9" name="TextBox 8">
            <a:extLst>
              <a:ext uri="{FF2B5EF4-FFF2-40B4-BE49-F238E27FC236}">
                <a16:creationId xmlns:a16="http://schemas.microsoft.com/office/drawing/2014/main" id="{952318A4-7024-680C-F051-6334CBF79E54}"/>
              </a:ext>
            </a:extLst>
          </p:cNvPr>
          <p:cNvSpPr txBox="1"/>
          <p:nvPr/>
        </p:nvSpPr>
        <p:spPr>
          <a:xfrm>
            <a:off x="3744679" y="3823065"/>
            <a:ext cx="7985767" cy="369332"/>
          </a:xfrm>
          <a:prstGeom prst="rect">
            <a:avLst/>
          </a:prstGeom>
          <a:noFill/>
        </p:spPr>
        <p:txBody>
          <a:bodyPr wrap="square" rtlCol="0">
            <a:spAutoFit/>
          </a:bodyPr>
          <a:lstStyle/>
          <a:p>
            <a:r>
              <a:rPr lang="en-US" dirty="0"/>
              <a:t>Train-&gt;seat-&gt; Boogie-&gt;Engine-&gt;Passenger-&gt;Dining Car-&gt;Dining Table-&gt;Feedback</a:t>
            </a:r>
          </a:p>
        </p:txBody>
      </p:sp>
      <p:sp>
        <p:nvSpPr>
          <p:cNvPr id="10" name="TextBox 9">
            <a:extLst>
              <a:ext uri="{FF2B5EF4-FFF2-40B4-BE49-F238E27FC236}">
                <a16:creationId xmlns:a16="http://schemas.microsoft.com/office/drawing/2014/main" id="{676D6D9A-09EE-CB25-2299-CF1EFE04E550}"/>
              </a:ext>
            </a:extLst>
          </p:cNvPr>
          <p:cNvSpPr txBox="1"/>
          <p:nvPr/>
        </p:nvSpPr>
        <p:spPr>
          <a:xfrm>
            <a:off x="3753391" y="4502334"/>
            <a:ext cx="7735494" cy="369332"/>
          </a:xfrm>
          <a:prstGeom prst="rect">
            <a:avLst/>
          </a:prstGeom>
          <a:noFill/>
        </p:spPr>
        <p:txBody>
          <a:bodyPr wrap="square" rtlCol="0">
            <a:spAutoFit/>
          </a:bodyPr>
          <a:lstStyle/>
          <a:p>
            <a:r>
              <a:rPr lang="en-US" dirty="0"/>
              <a:t>Management-&gt;Staff-&gt;Ticket-&gt;Business class-&gt;Lower Ac-&gt;Local-&gt;Payment</a:t>
            </a:r>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5" y="44450"/>
            <a:ext cx="11029616" cy="1188720"/>
          </a:xfrm>
        </p:spPr>
        <p:txBody>
          <a:bodyPr/>
          <a:lstStyle/>
          <a:p>
            <a:r>
              <a:rPr lang="en-US" dirty="0"/>
              <a:t>Passenger</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6" y="841283"/>
            <a:ext cx="11029615" cy="2187121"/>
          </a:xfrm>
        </p:spPr>
        <p:txBody>
          <a:bodyPr/>
          <a:lstStyle/>
          <a:p>
            <a:r>
              <a:rPr lang="en-US" dirty="0"/>
              <a:t>Manages data of passengers.</a:t>
            </a:r>
          </a:p>
          <a:p>
            <a:r>
              <a:rPr lang="en-US" dirty="0"/>
              <a:t>Take basic info of passengers coming on portal.</a:t>
            </a:r>
          </a:p>
          <a:p>
            <a:endParaRPr lang="en-US" dirty="0"/>
          </a:p>
        </p:txBody>
      </p:sp>
      <p:pic>
        <p:nvPicPr>
          <p:cNvPr id="7" name="Picture 6">
            <a:extLst>
              <a:ext uri="{FF2B5EF4-FFF2-40B4-BE49-F238E27FC236}">
                <a16:creationId xmlns:a16="http://schemas.microsoft.com/office/drawing/2014/main" id="{FA059094-26F1-6274-5E09-7DCC76CFB041}"/>
              </a:ext>
            </a:extLst>
          </p:cNvPr>
          <p:cNvPicPr>
            <a:picLocks noChangeAspect="1"/>
          </p:cNvPicPr>
          <p:nvPr/>
        </p:nvPicPr>
        <p:blipFill>
          <a:blip r:embed="rId2"/>
          <a:stretch>
            <a:fillRect/>
          </a:stretch>
        </p:blipFill>
        <p:spPr>
          <a:xfrm>
            <a:off x="380895" y="2164080"/>
            <a:ext cx="7818120" cy="4480560"/>
          </a:xfrm>
          <a:prstGeom prst="rect">
            <a:avLst/>
          </a:prstGeom>
        </p:spPr>
      </p:pic>
      <p:pic>
        <p:nvPicPr>
          <p:cNvPr id="9" name="Picture 8">
            <a:extLst>
              <a:ext uri="{FF2B5EF4-FFF2-40B4-BE49-F238E27FC236}">
                <a16:creationId xmlns:a16="http://schemas.microsoft.com/office/drawing/2014/main" id="{81898883-E2C4-4658-1583-72236BFF817B}"/>
              </a:ext>
            </a:extLst>
          </p:cNvPr>
          <p:cNvPicPr>
            <a:picLocks noChangeAspect="1"/>
          </p:cNvPicPr>
          <p:nvPr/>
        </p:nvPicPr>
        <p:blipFill>
          <a:blip r:embed="rId3"/>
          <a:stretch>
            <a:fillRect/>
          </a:stretch>
        </p:blipFill>
        <p:spPr>
          <a:xfrm>
            <a:off x="8365882" y="1212673"/>
            <a:ext cx="3591930" cy="5431974"/>
          </a:xfrm>
          <a:prstGeom prst="rect">
            <a:avLst/>
          </a:prstGeom>
        </p:spPr>
      </p:pic>
    </p:spTree>
    <p:extLst>
      <p:ext uri="{BB962C8B-B14F-4D97-AF65-F5344CB8AC3E}">
        <p14:creationId xmlns:p14="http://schemas.microsoft.com/office/powerpoint/2010/main" val="404131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166370"/>
            <a:ext cx="11029616" cy="1188720"/>
          </a:xfrm>
        </p:spPr>
        <p:txBody>
          <a:bodyPr/>
          <a:lstStyle/>
          <a:p>
            <a:r>
              <a:rPr lang="en-US" dirty="0"/>
              <a:t>Seat</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1067706"/>
            <a:ext cx="11029615" cy="2187121"/>
          </a:xfrm>
        </p:spPr>
        <p:txBody>
          <a:bodyPr/>
          <a:lstStyle/>
          <a:p>
            <a:r>
              <a:rPr lang="en-US" dirty="0"/>
              <a:t>Manages seats in the Boogie</a:t>
            </a:r>
          </a:p>
          <a:p>
            <a:r>
              <a:rPr lang="en-US" dirty="0"/>
              <a:t>Composed in the Boogie</a:t>
            </a:r>
          </a:p>
          <a:p>
            <a:endParaRPr lang="en-US" dirty="0"/>
          </a:p>
        </p:txBody>
      </p:sp>
      <p:pic>
        <p:nvPicPr>
          <p:cNvPr id="7" name="Picture 6">
            <a:extLst>
              <a:ext uri="{FF2B5EF4-FFF2-40B4-BE49-F238E27FC236}">
                <a16:creationId xmlns:a16="http://schemas.microsoft.com/office/drawing/2014/main" id="{C2F4A4FB-AA15-73F5-7F22-71682BD668BA}"/>
              </a:ext>
            </a:extLst>
          </p:cNvPr>
          <p:cNvPicPr>
            <a:picLocks noChangeAspect="1"/>
          </p:cNvPicPr>
          <p:nvPr/>
        </p:nvPicPr>
        <p:blipFill>
          <a:blip r:embed="rId2"/>
          <a:stretch>
            <a:fillRect/>
          </a:stretch>
        </p:blipFill>
        <p:spPr>
          <a:xfrm>
            <a:off x="380895" y="2689860"/>
            <a:ext cx="7879080" cy="3672840"/>
          </a:xfrm>
          <a:prstGeom prst="rect">
            <a:avLst/>
          </a:prstGeom>
        </p:spPr>
      </p:pic>
    </p:spTree>
    <p:extLst>
      <p:ext uri="{BB962C8B-B14F-4D97-AF65-F5344CB8AC3E}">
        <p14:creationId xmlns:p14="http://schemas.microsoft.com/office/powerpoint/2010/main" val="359219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166370"/>
            <a:ext cx="11029616" cy="1188720"/>
          </a:xfrm>
        </p:spPr>
        <p:txBody>
          <a:bodyPr/>
          <a:lstStyle/>
          <a:p>
            <a:r>
              <a:rPr lang="en-US" dirty="0"/>
              <a:t>boogie</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1067706"/>
            <a:ext cx="11029615" cy="2187121"/>
          </a:xfrm>
        </p:spPr>
        <p:txBody>
          <a:bodyPr/>
          <a:lstStyle/>
          <a:p>
            <a:r>
              <a:rPr lang="en-US" dirty="0"/>
              <a:t>Manages seats and boogie info </a:t>
            </a:r>
          </a:p>
          <a:p>
            <a:r>
              <a:rPr lang="en-US" dirty="0"/>
              <a:t>Manage boogie numbers and types</a:t>
            </a:r>
          </a:p>
          <a:p>
            <a:endParaRPr lang="en-US" dirty="0"/>
          </a:p>
        </p:txBody>
      </p:sp>
      <p:pic>
        <p:nvPicPr>
          <p:cNvPr id="5" name="Picture 4">
            <a:extLst>
              <a:ext uri="{FF2B5EF4-FFF2-40B4-BE49-F238E27FC236}">
                <a16:creationId xmlns:a16="http://schemas.microsoft.com/office/drawing/2014/main" id="{B685BA5F-6259-F643-0812-C6364F88EBEA}"/>
              </a:ext>
            </a:extLst>
          </p:cNvPr>
          <p:cNvPicPr>
            <a:picLocks noChangeAspect="1"/>
          </p:cNvPicPr>
          <p:nvPr/>
        </p:nvPicPr>
        <p:blipFill>
          <a:blip r:embed="rId2"/>
          <a:stretch>
            <a:fillRect/>
          </a:stretch>
        </p:blipFill>
        <p:spPr>
          <a:xfrm>
            <a:off x="380894" y="2571750"/>
            <a:ext cx="7909560" cy="4030980"/>
          </a:xfrm>
          <a:prstGeom prst="rect">
            <a:avLst/>
          </a:prstGeom>
        </p:spPr>
      </p:pic>
      <p:pic>
        <p:nvPicPr>
          <p:cNvPr id="8" name="Picture 7">
            <a:extLst>
              <a:ext uri="{FF2B5EF4-FFF2-40B4-BE49-F238E27FC236}">
                <a16:creationId xmlns:a16="http://schemas.microsoft.com/office/drawing/2014/main" id="{57F5442F-6873-9E59-8FD4-3E3C5D0385A2}"/>
              </a:ext>
            </a:extLst>
          </p:cNvPr>
          <p:cNvPicPr>
            <a:picLocks noChangeAspect="1"/>
          </p:cNvPicPr>
          <p:nvPr/>
        </p:nvPicPr>
        <p:blipFill>
          <a:blip r:embed="rId3"/>
          <a:stretch>
            <a:fillRect/>
          </a:stretch>
        </p:blipFill>
        <p:spPr>
          <a:xfrm>
            <a:off x="8447328" y="1172213"/>
            <a:ext cx="3573019" cy="5421084"/>
          </a:xfrm>
          <a:prstGeom prst="rect">
            <a:avLst/>
          </a:prstGeom>
        </p:spPr>
      </p:pic>
    </p:spTree>
    <p:extLst>
      <p:ext uri="{BB962C8B-B14F-4D97-AF65-F5344CB8AC3E}">
        <p14:creationId xmlns:p14="http://schemas.microsoft.com/office/powerpoint/2010/main" val="1097117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166370"/>
            <a:ext cx="11029616" cy="1188720"/>
          </a:xfrm>
        </p:spPr>
        <p:txBody>
          <a:bodyPr/>
          <a:lstStyle/>
          <a:p>
            <a:r>
              <a:rPr lang="en-US" dirty="0"/>
              <a:t>Dining table</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1067706"/>
            <a:ext cx="11029615" cy="2187121"/>
          </a:xfrm>
        </p:spPr>
        <p:txBody>
          <a:bodyPr/>
          <a:lstStyle/>
          <a:p>
            <a:r>
              <a:rPr lang="en-US" dirty="0"/>
              <a:t>Manages tables in the dining boogie </a:t>
            </a:r>
          </a:p>
          <a:p>
            <a:r>
              <a:rPr lang="en-US" dirty="0"/>
              <a:t>Composed int the Dining Car</a:t>
            </a:r>
          </a:p>
          <a:p>
            <a:endParaRPr lang="en-US" dirty="0"/>
          </a:p>
        </p:txBody>
      </p:sp>
      <p:pic>
        <p:nvPicPr>
          <p:cNvPr id="6" name="Picture 5">
            <a:extLst>
              <a:ext uri="{FF2B5EF4-FFF2-40B4-BE49-F238E27FC236}">
                <a16:creationId xmlns:a16="http://schemas.microsoft.com/office/drawing/2014/main" id="{49ABA07C-4D2F-71A6-DCD2-BB43B38824CF}"/>
              </a:ext>
            </a:extLst>
          </p:cNvPr>
          <p:cNvPicPr>
            <a:picLocks noChangeAspect="1"/>
          </p:cNvPicPr>
          <p:nvPr/>
        </p:nvPicPr>
        <p:blipFill>
          <a:blip r:embed="rId2"/>
          <a:stretch>
            <a:fillRect/>
          </a:stretch>
        </p:blipFill>
        <p:spPr>
          <a:xfrm>
            <a:off x="380894" y="2802527"/>
            <a:ext cx="7917180" cy="3360420"/>
          </a:xfrm>
          <a:prstGeom prst="rect">
            <a:avLst/>
          </a:prstGeom>
        </p:spPr>
      </p:pic>
    </p:spTree>
    <p:extLst>
      <p:ext uri="{BB962C8B-B14F-4D97-AF65-F5344CB8AC3E}">
        <p14:creationId xmlns:p14="http://schemas.microsoft.com/office/powerpoint/2010/main" val="246637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166370"/>
            <a:ext cx="11029616" cy="1188720"/>
          </a:xfrm>
        </p:spPr>
        <p:txBody>
          <a:bodyPr/>
          <a:lstStyle/>
          <a:p>
            <a:r>
              <a:rPr lang="en-US" dirty="0"/>
              <a:t>Dining Car</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1067706"/>
            <a:ext cx="11029615" cy="2187121"/>
          </a:xfrm>
        </p:spPr>
        <p:txBody>
          <a:bodyPr/>
          <a:lstStyle/>
          <a:p>
            <a:r>
              <a:rPr lang="en-US" dirty="0"/>
              <a:t>Manages Dining tables in train</a:t>
            </a:r>
          </a:p>
          <a:p>
            <a:r>
              <a:rPr lang="en-US" dirty="0"/>
              <a:t>Allow passenger to book and display tables</a:t>
            </a:r>
          </a:p>
          <a:p>
            <a:endParaRPr lang="en-US" dirty="0"/>
          </a:p>
        </p:txBody>
      </p:sp>
      <p:pic>
        <p:nvPicPr>
          <p:cNvPr id="8" name="Picture 7">
            <a:extLst>
              <a:ext uri="{FF2B5EF4-FFF2-40B4-BE49-F238E27FC236}">
                <a16:creationId xmlns:a16="http://schemas.microsoft.com/office/drawing/2014/main" id="{3ECCFBBF-41F1-34ED-52E3-20125B41D71D}"/>
              </a:ext>
            </a:extLst>
          </p:cNvPr>
          <p:cNvPicPr>
            <a:picLocks noChangeAspect="1"/>
          </p:cNvPicPr>
          <p:nvPr/>
        </p:nvPicPr>
        <p:blipFill>
          <a:blip r:embed="rId2"/>
          <a:stretch>
            <a:fillRect/>
          </a:stretch>
        </p:blipFill>
        <p:spPr>
          <a:xfrm>
            <a:off x="380894" y="2557055"/>
            <a:ext cx="7749540" cy="4008120"/>
          </a:xfrm>
          <a:prstGeom prst="rect">
            <a:avLst/>
          </a:prstGeom>
        </p:spPr>
      </p:pic>
      <p:pic>
        <p:nvPicPr>
          <p:cNvPr id="10" name="Picture 9">
            <a:extLst>
              <a:ext uri="{FF2B5EF4-FFF2-40B4-BE49-F238E27FC236}">
                <a16:creationId xmlns:a16="http://schemas.microsoft.com/office/drawing/2014/main" id="{7D4DFDFA-6853-6124-6B7B-DEDF62C64CF0}"/>
              </a:ext>
            </a:extLst>
          </p:cNvPr>
          <p:cNvPicPr>
            <a:picLocks noChangeAspect="1"/>
          </p:cNvPicPr>
          <p:nvPr/>
        </p:nvPicPr>
        <p:blipFill>
          <a:blip r:embed="rId3"/>
          <a:stretch>
            <a:fillRect/>
          </a:stretch>
        </p:blipFill>
        <p:spPr>
          <a:xfrm>
            <a:off x="8322021" y="1175657"/>
            <a:ext cx="3680671" cy="5389518"/>
          </a:xfrm>
          <a:prstGeom prst="rect">
            <a:avLst/>
          </a:prstGeom>
        </p:spPr>
      </p:pic>
    </p:spTree>
    <p:extLst>
      <p:ext uri="{BB962C8B-B14F-4D97-AF65-F5344CB8AC3E}">
        <p14:creationId xmlns:p14="http://schemas.microsoft.com/office/powerpoint/2010/main" val="3032143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166370"/>
            <a:ext cx="11029616" cy="1188720"/>
          </a:xfrm>
        </p:spPr>
        <p:txBody>
          <a:bodyPr/>
          <a:lstStyle/>
          <a:p>
            <a:r>
              <a:rPr lang="en-US" dirty="0"/>
              <a:t>Engine</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1067706"/>
            <a:ext cx="11029615" cy="2187121"/>
          </a:xfrm>
        </p:spPr>
        <p:txBody>
          <a:bodyPr/>
          <a:lstStyle/>
          <a:p>
            <a:r>
              <a:rPr lang="en-US" dirty="0"/>
              <a:t>Manages Engine Info in train</a:t>
            </a:r>
          </a:p>
          <a:p>
            <a:r>
              <a:rPr lang="en-US" dirty="0"/>
              <a:t>Allow admin to assign and display engines</a:t>
            </a:r>
          </a:p>
          <a:p>
            <a:endParaRPr lang="en-US" dirty="0"/>
          </a:p>
        </p:txBody>
      </p:sp>
      <p:pic>
        <p:nvPicPr>
          <p:cNvPr id="5" name="Picture 4">
            <a:extLst>
              <a:ext uri="{FF2B5EF4-FFF2-40B4-BE49-F238E27FC236}">
                <a16:creationId xmlns:a16="http://schemas.microsoft.com/office/drawing/2014/main" id="{A953F038-EA9B-7B41-6947-05C9E5E48C05}"/>
              </a:ext>
            </a:extLst>
          </p:cNvPr>
          <p:cNvPicPr>
            <a:picLocks noChangeAspect="1"/>
          </p:cNvPicPr>
          <p:nvPr/>
        </p:nvPicPr>
        <p:blipFill>
          <a:blip r:embed="rId2"/>
          <a:stretch>
            <a:fillRect/>
          </a:stretch>
        </p:blipFill>
        <p:spPr>
          <a:xfrm>
            <a:off x="380894" y="2745921"/>
            <a:ext cx="7856220" cy="3421380"/>
          </a:xfrm>
          <a:prstGeom prst="rect">
            <a:avLst/>
          </a:prstGeom>
        </p:spPr>
      </p:pic>
    </p:spTree>
    <p:extLst>
      <p:ext uri="{BB962C8B-B14F-4D97-AF65-F5344CB8AC3E}">
        <p14:creationId xmlns:p14="http://schemas.microsoft.com/office/powerpoint/2010/main" val="1121148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25223"/>
            <a:ext cx="11029616" cy="1188720"/>
          </a:xfrm>
        </p:spPr>
        <p:txBody>
          <a:bodyPr/>
          <a:lstStyle/>
          <a:p>
            <a:r>
              <a:rPr lang="en-US" dirty="0"/>
              <a:t>Train</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719370"/>
            <a:ext cx="11029615" cy="2187121"/>
          </a:xfrm>
        </p:spPr>
        <p:txBody>
          <a:bodyPr/>
          <a:lstStyle/>
          <a:p>
            <a:r>
              <a:rPr lang="en-US" dirty="0"/>
              <a:t>Manages train Info of Routes</a:t>
            </a:r>
          </a:p>
          <a:p>
            <a:r>
              <a:rPr lang="en-US" dirty="0"/>
              <a:t>Display train number on the Routes</a:t>
            </a:r>
          </a:p>
          <a:p>
            <a:endParaRPr lang="en-US" dirty="0"/>
          </a:p>
        </p:txBody>
      </p:sp>
      <p:pic>
        <p:nvPicPr>
          <p:cNvPr id="6" name="Picture 5">
            <a:extLst>
              <a:ext uri="{FF2B5EF4-FFF2-40B4-BE49-F238E27FC236}">
                <a16:creationId xmlns:a16="http://schemas.microsoft.com/office/drawing/2014/main" id="{4707618A-2067-9E2D-840B-402F5B08E4E2}"/>
              </a:ext>
            </a:extLst>
          </p:cNvPr>
          <p:cNvPicPr>
            <a:picLocks noChangeAspect="1"/>
          </p:cNvPicPr>
          <p:nvPr/>
        </p:nvPicPr>
        <p:blipFill>
          <a:blip r:embed="rId2"/>
          <a:stretch>
            <a:fillRect/>
          </a:stretch>
        </p:blipFill>
        <p:spPr>
          <a:xfrm>
            <a:off x="441960" y="2043977"/>
            <a:ext cx="7894320" cy="4647653"/>
          </a:xfrm>
          <a:prstGeom prst="rect">
            <a:avLst/>
          </a:prstGeom>
        </p:spPr>
      </p:pic>
      <p:pic>
        <p:nvPicPr>
          <p:cNvPr id="8" name="Picture 7">
            <a:extLst>
              <a:ext uri="{FF2B5EF4-FFF2-40B4-BE49-F238E27FC236}">
                <a16:creationId xmlns:a16="http://schemas.microsoft.com/office/drawing/2014/main" id="{1038DD53-1E57-F68F-4AD2-6A0CFC0687F3}"/>
              </a:ext>
            </a:extLst>
          </p:cNvPr>
          <p:cNvPicPr>
            <a:picLocks noChangeAspect="1"/>
          </p:cNvPicPr>
          <p:nvPr/>
        </p:nvPicPr>
        <p:blipFill>
          <a:blip r:embed="rId3"/>
          <a:stretch>
            <a:fillRect/>
          </a:stretch>
        </p:blipFill>
        <p:spPr>
          <a:xfrm>
            <a:off x="8414764" y="1358698"/>
            <a:ext cx="3655318" cy="5326819"/>
          </a:xfrm>
          <a:prstGeom prst="rect">
            <a:avLst/>
          </a:prstGeom>
        </p:spPr>
      </p:pic>
    </p:spTree>
    <p:extLst>
      <p:ext uri="{BB962C8B-B14F-4D97-AF65-F5344CB8AC3E}">
        <p14:creationId xmlns:p14="http://schemas.microsoft.com/office/powerpoint/2010/main" val="3590914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D642-7EF9-78A4-727A-97C640282A82}"/>
              </a:ext>
            </a:extLst>
          </p:cNvPr>
          <p:cNvSpPr>
            <a:spLocks noGrp="1"/>
          </p:cNvSpPr>
          <p:nvPr>
            <p:ph type="title"/>
          </p:nvPr>
        </p:nvSpPr>
        <p:spPr>
          <a:xfrm>
            <a:off x="380894" y="-25223"/>
            <a:ext cx="11029616" cy="1188720"/>
          </a:xfrm>
        </p:spPr>
        <p:txBody>
          <a:bodyPr/>
          <a:lstStyle/>
          <a:p>
            <a:r>
              <a:rPr lang="en-US" dirty="0"/>
              <a:t>feedback</a:t>
            </a:r>
          </a:p>
        </p:txBody>
      </p:sp>
      <p:sp>
        <p:nvSpPr>
          <p:cNvPr id="3" name="Content Placeholder 2">
            <a:extLst>
              <a:ext uri="{FF2B5EF4-FFF2-40B4-BE49-F238E27FC236}">
                <a16:creationId xmlns:a16="http://schemas.microsoft.com/office/drawing/2014/main" id="{E08AA542-C245-C602-BA4B-1FE07B6FF0DE}"/>
              </a:ext>
            </a:extLst>
          </p:cNvPr>
          <p:cNvSpPr>
            <a:spLocks noGrp="1"/>
          </p:cNvSpPr>
          <p:nvPr>
            <p:ph idx="1"/>
          </p:nvPr>
        </p:nvSpPr>
        <p:spPr>
          <a:xfrm>
            <a:off x="380895" y="719370"/>
            <a:ext cx="11029615" cy="2187121"/>
          </a:xfrm>
        </p:spPr>
        <p:txBody>
          <a:bodyPr/>
          <a:lstStyle/>
          <a:p>
            <a:r>
              <a:rPr lang="en-US" dirty="0"/>
              <a:t>Allow Passenger to give feedback</a:t>
            </a:r>
          </a:p>
          <a:p>
            <a:endParaRPr lang="en-US" dirty="0"/>
          </a:p>
        </p:txBody>
      </p:sp>
      <p:pic>
        <p:nvPicPr>
          <p:cNvPr id="5" name="Picture 4">
            <a:extLst>
              <a:ext uri="{FF2B5EF4-FFF2-40B4-BE49-F238E27FC236}">
                <a16:creationId xmlns:a16="http://schemas.microsoft.com/office/drawing/2014/main" id="{1A7C2D45-6ACE-3012-097A-47F03A6108F9}"/>
              </a:ext>
            </a:extLst>
          </p:cNvPr>
          <p:cNvPicPr>
            <a:picLocks noChangeAspect="1"/>
          </p:cNvPicPr>
          <p:nvPr/>
        </p:nvPicPr>
        <p:blipFill>
          <a:blip r:embed="rId2"/>
          <a:stretch>
            <a:fillRect/>
          </a:stretch>
        </p:blipFill>
        <p:spPr>
          <a:xfrm>
            <a:off x="380894" y="2287088"/>
            <a:ext cx="7909560" cy="4008120"/>
          </a:xfrm>
          <a:prstGeom prst="rect">
            <a:avLst/>
          </a:prstGeom>
        </p:spPr>
      </p:pic>
      <p:pic>
        <p:nvPicPr>
          <p:cNvPr id="8" name="Picture 7">
            <a:extLst>
              <a:ext uri="{FF2B5EF4-FFF2-40B4-BE49-F238E27FC236}">
                <a16:creationId xmlns:a16="http://schemas.microsoft.com/office/drawing/2014/main" id="{DC32C03C-5606-B901-2771-3B1A4B2C0C02}"/>
              </a:ext>
            </a:extLst>
          </p:cNvPr>
          <p:cNvPicPr>
            <a:picLocks noChangeAspect="1"/>
          </p:cNvPicPr>
          <p:nvPr/>
        </p:nvPicPr>
        <p:blipFill>
          <a:blip r:embed="rId3"/>
          <a:stretch>
            <a:fillRect/>
          </a:stretch>
        </p:blipFill>
        <p:spPr>
          <a:xfrm>
            <a:off x="8473440" y="1925507"/>
            <a:ext cx="3518263" cy="4369885"/>
          </a:xfrm>
          <a:prstGeom prst="rect">
            <a:avLst/>
          </a:prstGeom>
        </p:spPr>
      </p:pic>
    </p:spTree>
    <p:extLst>
      <p:ext uri="{BB962C8B-B14F-4D97-AF65-F5344CB8AC3E}">
        <p14:creationId xmlns:p14="http://schemas.microsoft.com/office/powerpoint/2010/main" val="3714571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5A71-B9D2-CA96-76E4-CD89A6322952}"/>
              </a:ext>
            </a:extLst>
          </p:cNvPr>
          <p:cNvSpPr>
            <a:spLocks noGrp="1"/>
          </p:cNvSpPr>
          <p:nvPr>
            <p:ph type="title"/>
          </p:nvPr>
        </p:nvSpPr>
        <p:spPr/>
        <p:txBody>
          <a:bodyPr>
            <a:normAutofit fontScale="90000"/>
          </a:bodyPr>
          <a:lstStyle/>
          <a:p>
            <a:r>
              <a:rPr lang="en-GB" sz="2800" dirty="0">
                <a:cs typeface="Times New Roman" panose="02020603050405020304" pitchFamily="18" charset="0"/>
              </a:rPr>
              <a:t>Ticket</a:t>
            </a:r>
            <a:br>
              <a:rPr lang="en-GB" sz="2800" u="sng" dirty="0">
                <a:cs typeface="Times New Roman" panose="02020603050405020304" pitchFamily="18" charset="0"/>
              </a:rPr>
            </a:br>
            <a:r>
              <a:rPr lang="en-GB" sz="2800" u="sng" dirty="0">
                <a:cs typeface="Times New Roman" panose="02020603050405020304" pitchFamily="18" charset="0"/>
              </a:rPr>
              <a:t> </a:t>
            </a:r>
            <a:r>
              <a:rPr lang="en-GB" sz="1700" dirty="0">
                <a:latin typeface="+mn-lt"/>
                <a:cs typeface="Times New Roman" panose="02020603050405020304" pitchFamily="18" charset="0"/>
              </a:rPr>
              <a:t>Abstract Class having Polymorphism </a:t>
            </a:r>
            <a:br>
              <a:rPr lang="en-GB" sz="1700" dirty="0">
                <a:latin typeface="+mn-lt"/>
                <a:cs typeface="Times New Roman" panose="02020603050405020304" pitchFamily="18" charset="0"/>
              </a:rPr>
            </a:br>
            <a:r>
              <a:rPr lang="en-GB" sz="1700" dirty="0">
                <a:latin typeface="+mn-lt"/>
                <a:cs typeface="Times New Roman" panose="02020603050405020304" pitchFamily="18" charset="0"/>
              </a:rPr>
              <a:t>generates ticket</a:t>
            </a:r>
            <a:br>
              <a:rPr lang="en-GB" sz="1700" dirty="0">
                <a:cs typeface="Times New Roman" panose="02020603050405020304" pitchFamily="18" charset="0"/>
              </a:rPr>
            </a:br>
            <a:endParaRPr lang="en-GB" sz="1700" dirty="0"/>
          </a:p>
        </p:txBody>
      </p:sp>
      <p:pic>
        <p:nvPicPr>
          <p:cNvPr id="4" name="Content Placeholder 3">
            <a:extLst>
              <a:ext uri="{FF2B5EF4-FFF2-40B4-BE49-F238E27FC236}">
                <a16:creationId xmlns:a16="http://schemas.microsoft.com/office/drawing/2014/main" id="{18C756BA-2263-874A-E30D-289B4C0252AD}"/>
              </a:ext>
            </a:extLst>
          </p:cNvPr>
          <p:cNvPicPr>
            <a:picLocks noGrp="1" noChangeAspect="1"/>
          </p:cNvPicPr>
          <p:nvPr>
            <p:ph idx="1"/>
          </p:nvPr>
        </p:nvPicPr>
        <p:blipFill>
          <a:blip r:embed="rId2"/>
          <a:stretch>
            <a:fillRect/>
          </a:stretch>
        </p:blipFill>
        <p:spPr>
          <a:xfrm>
            <a:off x="581192" y="2113639"/>
            <a:ext cx="7201841" cy="3691589"/>
          </a:xfrm>
          <a:prstGeom prst="rect">
            <a:avLst/>
          </a:prstGeom>
        </p:spPr>
      </p:pic>
      <p:pic>
        <p:nvPicPr>
          <p:cNvPr id="6" name="Picture 5">
            <a:extLst>
              <a:ext uri="{FF2B5EF4-FFF2-40B4-BE49-F238E27FC236}">
                <a16:creationId xmlns:a16="http://schemas.microsoft.com/office/drawing/2014/main" id="{D3E1C61E-A4FC-80AD-695C-DD883D82547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861635" y="1259830"/>
            <a:ext cx="4046830" cy="5034644"/>
          </a:xfrm>
          <a:prstGeom prst="rect">
            <a:avLst/>
          </a:prstGeom>
        </p:spPr>
      </p:pic>
    </p:spTree>
    <p:extLst>
      <p:ext uri="{BB962C8B-B14F-4D97-AF65-F5344CB8AC3E}">
        <p14:creationId xmlns:p14="http://schemas.microsoft.com/office/powerpoint/2010/main" val="4080278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1D50D-C924-B95E-77E9-0ACB9B5699BA}"/>
              </a:ext>
            </a:extLst>
          </p:cNvPr>
          <p:cNvSpPr>
            <a:spLocks noGrp="1"/>
          </p:cNvSpPr>
          <p:nvPr>
            <p:ph type="title"/>
          </p:nvPr>
        </p:nvSpPr>
        <p:spPr/>
        <p:txBody>
          <a:bodyPr/>
          <a:lstStyle/>
          <a:p>
            <a:r>
              <a:rPr lang="en-GB" sz="2800" dirty="0">
                <a:cs typeface="Times New Roman" panose="02020603050405020304" pitchFamily="18" charset="0"/>
              </a:rPr>
              <a:t>Payment</a:t>
            </a:r>
            <a:br>
              <a:rPr lang="en-GB" sz="2800" u="sng" dirty="0">
                <a:latin typeface="Times New Roman" panose="02020603050405020304" pitchFamily="18" charset="0"/>
                <a:cs typeface="Times New Roman" panose="02020603050405020304" pitchFamily="18" charset="0"/>
              </a:rPr>
            </a:br>
            <a:r>
              <a:rPr lang="en-GB" sz="1700" dirty="0">
                <a:latin typeface="+mn-lt"/>
                <a:cs typeface="Times New Roman" panose="02020603050405020304" pitchFamily="18" charset="0"/>
              </a:rPr>
              <a:t>Aggregated In Ticket</a:t>
            </a:r>
            <a:br>
              <a:rPr lang="en-GB" sz="1700" dirty="0">
                <a:latin typeface="+mn-lt"/>
                <a:cs typeface="Times New Roman" panose="02020603050405020304" pitchFamily="18" charset="0"/>
              </a:rPr>
            </a:br>
            <a:r>
              <a:rPr lang="en-GB" sz="1700" dirty="0">
                <a:latin typeface="+mn-lt"/>
                <a:cs typeface="Times New Roman" panose="02020603050405020304" pitchFamily="18" charset="0"/>
              </a:rPr>
              <a:t>payment across corresponding ticket</a:t>
            </a:r>
            <a:endParaRPr lang="en-GB" sz="1700" dirty="0">
              <a:latin typeface="+mn-lt"/>
            </a:endParaRPr>
          </a:p>
        </p:txBody>
      </p:sp>
      <p:pic>
        <p:nvPicPr>
          <p:cNvPr id="4" name="Content Placeholder 4">
            <a:extLst>
              <a:ext uri="{FF2B5EF4-FFF2-40B4-BE49-F238E27FC236}">
                <a16:creationId xmlns:a16="http://schemas.microsoft.com/office/drawing/2014/main" id="{A716F715-15F8-D10C-65AA-8B14967D24C5}"/>
              </a:ext>
            </a:extLst>
          </p:cNvPr>
          <p:cNvPicPr>
            <a:picLocks noGrp="1" noChangeAspect="1"/>
          </p:cNvPicPr>
          <p:nvPr>
            <p:ph idx="1"/>
          </p:nvPr>
        </p:nvPicPr>
        <p:blipFill>
          <a:blip r:embed="rId2"/>
          <a:stretch>
            <a:fillRect/>
          </a:stretch>
        </p:blipFill>
        <p:spPr>
          <a:xfrm>
            <a:off x="671718" y="2264735"/>
            <a:ext cx="7533348" cy="3604290"/>
          </a:xfrm>
        </p:spPr>
      </p:pic>
      <p:pic>
        <p:nvPicPr>
          <p:cNvPr id="9" name="Picture 8">
            <a:extLst>
              <a:ext uri="{FF2B5EF4-FFF2-40B4-BE49-F238E27FC236}">
                <a16:creationId xmlns:a16="http://schemas.microsoft.com/office/drawing/2014/main" id="{85E9973A-2383-269B-D26E-364F00895A4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266718" y="1265274"/>
            <a:ext cx="3653629" cy="5082363"/>
          </a:xfrm>
          <a:prstGeom prst="rect">
            <a:avLst/>
          </a:prstGeom>
        </p:spPr>
      </p:pic>
    </p:spTree>
    <p:extLst>
      <p:ext uri="{BB962C8B-B14F-4D97-AF65-F5344CB8AC3E}">
        <p14:creationId xmlns:p14="http://schemas.microsoft.com/office/powerpoint/2010/main" val="2040588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929D-AD8A-D6A4-7F32-FB3BD05B2FDC}"/>
              </a:ext>
            </a:extLst>
          </p:cNvPr>
          <p:cNvSpPr>
            <a:spLocks noGrp="1"/>
          </p:cNvSpPr>
          <p:nvPr>
            <p:ph type="title"/>
          </p:nvPr>
        </p:nvSpPr>
        <p:spPr/>
        <p:txBody>
          <a:bodyPr/>
          <a:lstStyle/>
          <a:p>
            <a:r>
              <a:rPr lang="en-GB" sz="2800" dirty="0">
                <a:cs typeface="Times New Roman" panose="02020603050405020304" pitchFamily="18" charset="0"/>
              </a:rPr>
              <a:t>Business Ticket</a:t>
            </a:r>
            <a:br>
              <a:rPr lang="en-GB" sz="2800" u="sng" dirty="0">
                <a:latin typeface="Times New Roman" panose="02020603050405020304" pitchFamily="18" charset="0"/>
                <a:cs typeface="Times New Roman" panose="02020603050405020304" pitchFamily="18" charset="0"/>
              </a:rPr>
            </a:br>
            <a:r>
              <a:rPr lang="en-GB" sz="1700" dirty="0">
                <a:latin typeface="+mn-lt"/>
                <a:cs typeface="Times New Roman" panose="02020603050405020304" pitchFamily="18" charset="0"/>
              </a:rPr>
              <a:t>Inherits From Ticket</a:t>
            </a:r>
            <a:br>
              <a:rPr lang="en-GB" sz="1700" dirty="0">
                <a:latin typeface="+mn-lt"/>
                <a:cs typeface="Times New Roman" panose="02020603050405020304" pitchFamily="18" charset="0"/>
              </a:rPr>
            </a:br>
            <a:r>
              <a:rPr lang="en-GB" sz="1700" dirty="0">
                <a:latin typeface="+mn-lt"/>
                <a:cs typeface="Times New Roman" panose="02020603050405020304" pitchFamily="18" charset="0"/>
              </a:rPr>
              <a:t>books business class ticket</a:t>
            </a:r>
          </a:p>
        </p:txBody>
      </p:sp>
      <p:pic>
        <p:nvPicPr>
          <p:cNvPr id="4" name="Content Placeholder 3">
            <a:extLst>
              <a:ext uri="{FF2B5EF4-FFF2-40B4-BE49-F238E27FC236}">
                <a16:creationId xmlns:a16="http://schemas.microsoft.com/office/drawing/2014/main" id="{7FFC9FD3-948A-29B3-1DA3-32C7253BC748}"/>
              </a:ext>
            </a:extLst>
          </p:cNvPr>
          <p:cNvPicPr>
            <a:picLocks noGrp="1" noChangeAspect="1"/>
          </p:cNvPicPr>
          <p:nvPr>
            <p:ph idx="1"/>
          </p:nvPr>
        </p:nvPicPr>
        <p:blipFill>
          <a:blip r:embed="rId2"/>
          <a:stretch>
            <a:fillRect/>
          </a:stretch>
        </p:blipFill>
        <p:spPr>
          <a:xfrm>
            <a:off x="581192" y="2052084"/>
            <a:ext cx="10157692" cy="4103760"/>
          </a:xfrm>
          <a:prstGeom prst="rect">
            <a:avLst/>
          </a:prstGeom>
        </p:spPr>
      </p:pic>
    </p:spTree>
    <p:extLst>
      <p:ext uri="{BB962C8B-B14F-4D97-AF65-F5344CB8AC3E}">
        <p14:creationId xmlns:p14="http://schemas.microsoft.com/office/powerpoint/2010/main" val="107541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5A4E-F2FF-F25A-6199-2CD83042C406}"/>
              </a:ext>
            </a:extLst>
          </p:cNvPr>
          <p:cNvSpPr>
            <a:spLocks noGrp="1"/>
          </p:cNvSpPr>
          <p:nvPr>
            <p:ph type="title"/>
          </p:nvPr>
        </p:nvSpPr>
        <p:spPr/>
        <p:txBody>
          <a:bodyPr>
            <a:normAutofit fontScale="90000"/>
          </a:bodyPr>
          <a:lstStyle/>
          <a:p>
            <a:r>
              <a:rPr lang="en-GB" sz="4000" dirty="0">
                <a:cs typeface="Times New Roman" panose="02020603050405020304" pitchFamily="18" charset="0"/>
              </a:rPr>
              <a:t>Lower AC Ticket</a:t>
            </a:r>
            <a:br>
              <a:rPr lang="en-GB" sz="4000" u="sng" dirty="0">
                <a:latin typeface="Times New Roman" panose="02020603050405020304" pitchFamily="18" charset="0"/>
                <a:cs typeface="Times New Roman" panose="02020603050405020304" pitchFamily="18" charset="0"/>
              </a:rPr>
            </a:br>
            <a:r>
              <a:rPr lang="en-GB" sz="2800" dirty="0">
                <a:latin typeface="+mn-lt"/>
                <a:cs typeface="Times New Roman" panose="02020603050405020304" pitchFamily="18" charset="0"/>
              </a:rPr>
              <a:t>Inherits From Ticket</a:t>
            </a:r>
            <a:br>
              <a:rPr lang="en-GB" sz="2800" dirty="0">
                <a:latin typeface="+mn-lt"/>
                <a:cs typeface="Times New Roman" panose="02020603050405020304" pitchFamily="18" charset="0"/>
              </a:rPr>
            </a:br>
            <a:r>
              <a:rPr lang="en-GB" sz="2800" dirty="0">
                <a:latin typeface="+mn-lt"/>
                <a:cs typeface="Times New Roman" panose="02020603050405020304" pitchFamily="18" charset="0"/>
              </a:rPr>
              <a:t>books Lower ac class ticket</a:t>
            </a:r>
            <a:endParaRPr lang="en-GB" dirty="0"/>
          </a:p>
        </p:txBody>
      </p:sp>
      <p:pic>
        <p:nvPicPr>
          <p:cNvPr id="4" name="Content Placeholder 4">
            <a:extLst>
              <a:ext uri="{FF2B5EF4-FFF2-40B4-BE49-F238E27FC236}">
                <a16:creationId xmlns:a16="http://schemas.microsoft.com/office/drawing/2014/main" id="{57F559CD-F135-3343-B986-8C3B080BF1CD}"/>
              </a:ext>
            </a:extLst>
          </p:cNvPr>
          <p:cNvPicPr>
            <a:picLocks noGrp="1" noChangeAspect="1"/>
          </p:cNvPicPr>
          <p:nvPr>
            <p:ph idx="1"/>
          </p:nvPr>
        </p:nvPicPr>
        <p:blipFill>
          <a:blip r:embed="rId2"/>
          <a:stretch>
            <a:fillRect/>
          </a:stretch>
        </p:blipFill>
        <p:spPr>
          <a:xfrm>
            <a:off x="581025" y="2243470"/>
            <a:ext cx="10957385" cy="3551274"/>
          </a:xfrm>
        </p:spPr>
      </p:pic>
    </p:spTree>
    <p:extLst>
      <p:ext uri="{BB962C8B-B14F-4D97-AF65-F5344CB8AC3E}">
        <p14:creationId xmlns:p14="http://schemas.microsoft.com/office/powerpoint/2010/main" val="2401091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F37A2-04D8-7101-69F9-B9EDD7A13A93}"/>
              </a:ext>
            </a:extLst>
          </p:cNvPr>
          <p:cNvSpPr>
            <a:spLocks noGrp="1"/>
          </p:cNvSpPr>
          <p:nvPr>
            <p:ph type="title"/>
          </p:nvPr>
        </p:nvSpPr>
        <p:spPr/>
        <p:txBody>
          <a:bodyPr>
            <a:normAutofit fontScale="90000"/>
          </a:bodyPr>
          <a:lstStyle/>
          <a:p>
            <a:r>
              <a:rPr lang="en-GB" sz="4000" dirty="0">
                <a:cs typeface="Times New Roman" panose="02020603050405020304" pitchFamily="18" charset="0"/>
              </a:rPr>
              <a:t>Local Ticket</a:t>
            </a:r>
            <a:br>
              <a:rPr lang="en-GB" sz="4000" u="sng" dirty="0">
                <a:latin typeface="Times New Roman" panose="02020603050405020304" pitchFamily="18" charset="0"/>
                <a:cs typeface="Times New Roman" panose="02020603050405020304" pitchFamily="18" charset="0"/>
              </a:rPr>
            </a:br>
            <a:r>
              <a:rPr lang="en-GB" sz="2800" dirty="0">
                <a:latin typeface="+mn-lt"/>
                <a:cs typeface="Times New Roman" panose="02020603050405020304" pitchFamily="18" charset="0"/>
              </a:rPr>
              <a:t>Inherits From Ticket</a:t>
            </a:r>
            <a:br>
              <a:rPr lang="en-GB" sz="2800" dirty="0">
                <a:latin typeface="+mn-lt"/>
                <a:cs typeface="Times New Roman" panose="02020603050405020304" pitchFamily="18" charset="0"/>
              </a:rPr>
            </a:br>
            <a:r>
              <a:rPr lang="en-GB" sz="2800" dirty="0">
                <a:latin typeface="+mn-lt"/>
                <a:cs typeface="Times New Roman" panose="02020603050405020304" pitchFamily="18" charset="0"/>
              </a:rPr>
              <a:t>books economy class ticket</a:t>
            </a:r>
            <a:endParaRPr lang="en-GB" dirty="0"/>
          </a:p>
        </p:txBody>
      </p:sp>
      <p:pic>
        <p:nvPicPr>
          <p:cNvPr id="4" name="Content Placeholder 4">
            <a:extLst>
              <a:ext uri="{FF2B5EF4-FFF2-40B4-BE49-F238E27FC236}">
                <a16:creationId xmlns:a16="http://schemas.microsoft.com/office/drawing/2014/main" id="{FCF7CC4D-2A43-9FAE-7B98-B29C793D4AB6}"/>
              </a:ext>
            </a:extLst>
          </p:cNvPr>
          <p:cNvPicPr>
            <a:picLocks noGrp="1" noChangeAspect="1"/>
          </p:cNvPicPr>
          <p:nvPr>
            <p:ph idx="1"/>
          </p:nvPr>
        </p:nvPicPr>
        <p:blipFill>
          <a:blip r:embed="rId2"/>
          <a:stretch>
            <a:fillRect/>
          </a:stretch>
        </p:blipFill>
        <p:spPr>
          <a:xfrm>
            <a:off x="581025" y="2381694"/>
            <a:ext cx="11029950" cy="3774150"/>
          </a:xfrm>
        </p:spPr>
      </p:pic>
    </p:spTree>
    <p:extLst>
      <p:ext uri="{BB962C8B-B14F-4D97-AF65-F5344CB8AC3E}">
        <p14:creationId xmlns:p14="http://schemas.microsoft.com/office/powerpoint/2010/main" val="3331738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83E1-1A33-0085-740B-99FD73818BA5}"/>
              </a:ext>
            </a:extLst>
          </p:cNvPr>
          <p:cNvSpPr>
            <a:spLocks noGrp="1"/>
          </p:cNvSpPr>
          <p:nvPr>
            <p:ph type="title"/>
          </p:nvPr>
        </p:nvSpPr>
        <p:spPr/>
        <p:txBody>
          <a:bodyPr>
            <a:normAutofit fontScale="90000"/>
          </a:bodyPr>
          <a:lstStyle/>
          <a:p>
            <a:r>
              <a:rPr lang="en-GB" sz="2800" dirty="0">
                <a:cs typeface="Times New Roman" panose="02020603050405020304" pitchFamily="18" charset="0"/>
              </a:rPr>
              <a:t>Ticket Management</a:t>
            </a:r>
            <a:br>
              <a:rPr lang="en-GB" sz="2800" u="sng" dirty="0">
                <a:latin typeface="Times New Roman" panose="02020603050405020304" pitchFamily="18" charset="0"/>
                <a:cs typeface="Times New Roman" panose="02020603050405020304" pitchFamily="18" charset="0"/>
              </a:rPr>
            </a:br>
            <a:r>
              <a:rPr lang="en-GB" sz="1900" dirty="0">
                <a:latin typeface="+mn-lt"/>
                <a:cs typeface="Times New Roman" panose="02020603050405020304" pitchFamily="18" charset="0"/>
              </a:rPr>
              <a:t>manages all tickets</a:t>
            </a:r>
            <a:br>
              <a:rPr lang="en-GB" sz="2800" u="sng" dirty="0">
                <a:latin typeface="Times New Roman" panose="02020603050405020304" pitchFamily="18" charset="0"/>
                <a:cs typeface="Times New Roman" panose="02020603050405020304" pitchFamily="18" charset="0"/>
              </a:rPr>
            </a:br>
            <a:r>
              <a:rPr lang="en-GB" sz="1700" dirty="0">
                <a:latin typeface="+mn-lt"/>
                <a:cs typeface="Times New Roman" panose="02020603050405020304" pitchFamily="18" charset="0"/>
              </a:rPr>
              <a:t>Adding And Removing Tickets</a:t>
            </a:r>
            <a:br>
              <a:rPr lang="en-GB" sz="1700" dirty="0">
                <a:latin typeface="+mn-lt"/>
                <a:cs typeface="Times New Roman" panose="02020603050405020304" pitchFamily="18" charset="0"/>
              </a:rPr>
            </a:br>
            <a:r>
              <a:rPr lang="en-GB" sz="1700" dirty="0">
                <a:latin typeface="+mn-lt"/>
                <a:cs typeface="Times New Roman" panose="02020603050405020304" pitchFamily="18" charset="0"/>
              </a:rPr>
              <a:t>handles filing</a:t>
            </a:r>
          </a:p>
        </p:txBody>
      </p:sp>
      <p:pic>
        <p:nvPicPr>
          <p:cNvPr id="4" name="Content Placeholder 4">
            <a:extLst>
              <a:ext uri="{FF2B5EF4-FFF2-40B4-BE49-F238E27FC236}">
                <a16:creationId xmlns:a16="http://schemas.microsoft.com/office/drawing/2014/main" id="{90977BB1-56D3-A072-2E06-7A057DD7A0CA}"/>
              </a:ext>
            </a:extLst>
          </p:cNvPr>
          <p:cNvPicPr>
            <a:picLocks noGrp="1" noChangeAspect="1"/>
          </p:cNvPicPr>
          <p:nvPr>
            <p:ph idx="1"/>
          </p:nvPr>
        </p:nvPicPr>
        <p:blipFill>
          <a:blip r:embed="rId2"/>
          <a:stretch>
            <a:fillRect/>
          </a:stretch>
        </p:blipFill>
        <p:spPr>
          <a:xfrm>
            <a:off x="1369441" y="2139544"/>
            <a:ext cx="4285695" cy="3633787"/>
          </a:xfrm>
        </p:spPr>
      </p:pic>
      <p:pic>
        <p:nvPicPr>
          <p:cNvPr id="5" name="Picture 4">
            <a:extLst>
              <a:ext uri="{FF2B5EF4-FFF2-40B4-BE49-F238E27FC236}">
                <a16:creationId xmlns:a16="http://schemas.microsoft.com/office/drawing/2014/main" id="{1A2395ED-3098-20B7-7671-0B3D215B2C4B}"/>
              </a:ext>
            </a:extLst>
          </p:cNvPr>
          <p:cNvPicPr>
            <a:picLocks noChangeAspect="1"/>
          </p:cNvPicPr>
          <p:nvPr/>
        </p:nvPicPr>
        <p:blipFill>
          <a:blip r:embed="rId3"/>
          <a:stretch>
            <a:fillRect/>
          </a:stretch>
        </p:blipFill>
        <p:spPr>
          <a:xfrm>
            <a:off x="5892033" y="2203265"/>
            <a:ext cx="5176460" cy="3506343"/>
          </a:xfrm>
          <a:prstGeom prst="rect">
            <a:avLst/>
          </a:prstGeom>
        </p:spPr>
      </p:pic>
    </p:spTree>
    <p:extLst>
      <p:ext uri="{BB962C8B-B14F-4D97-AF65-F5344CB8AC3E}">
        <p14:creationId xmlns:p14="http://schemas.microsoft.com/office/powerpoint/2010/main" val="1686270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5D56-9C80-749C-D48D-1C572FA724B3}"/>
              </a:ext>
            </a:extLst>
          </p:cNvPr>
          <p:cNvSpPr>
            <a:spLocks noGrp="1"/>
          </p:cNvSpPr>
          <p:nvPr>
            <p:ph type="title"/>
          </p:nvPr>
        </p:nvSpPr>
        <p:spPr/>
        <p:txBody>
          <a:bodyPr>
            <a:normAutofit/>
          </a:bodyPr>
          <a:lstStyle/>
          <a:p>
            <a:r>
              <a:rPr lang="en-GB" dirty="0">
                <a:cs typeface="Times New Roman" panose="02020603050405020304" pitchFamily="18" charset="0"/>
              </a:rPr>
              <a:t>S</a:t>
            </a:r>
            <a:r>
              <a:rPr lang="en-GB" sz="2800" dirty="0">
                <a:cs typeface="Times New Roman" panose="02020603050405020304" pitchFamily="18" charset="0"/>
              </a:rPr>
              <a:t>taff</a:t>
            </a:r>
            <a:br>
              <a:rPr lang="en-GB" sz="2800" u="sng" dirty="0">
                <a:latin typeface="Times New Roman" panose="02020603050405020304" pitchFamily="18" charset="0"/>
                <a:cs typeface="Times New Roman" panose="02020603050405020304" pitchFamily="18" charset="0"/>
              </a:rPr>
            </a:br>
            <a:r>
              <a:rPr lang="en-GB" sz="1900" dirty="0">
                <a:latin typeface="+mn-lt"/>
                <a:cs typeface="Times New Roman" panose="02020603050405020304" pitchFamily="18" charset="0"/>
              </a:rPr>
              <a:t>goes with train</a:t>
            </a:r>
            <a:br>
              <a:rPr lang="en-GB" sz="1900" dirty="0">
                <a:latin typeface="+mn-lt"/>
                <a:cs typeface="Times New Roman" panose="02020603050405020304" pitchFamily="18" charset="0"/>
              </a:rPr>
            </a:br>
            <a:r>
              <a:rPr lang="en-GB" sz="1900" dirty="0">
                <a:latin typeface="+mn-lt"/>
                <a:cs typeface="Times New Roman" panose="02020603050405020304" pitchFamily="18" charset="0"/>
              </a:rPr>
              <a:t>stays at station</a:t>
            </a:r>
          </a:p>
        </p:txBody>
      </p:sp>
      <p:pic>
        <p:nvPicPr>
          <p:cNvPr id="4" name="Content Placeholder 4">
            <a:extLst>
              <a:ext uri="{FF2B5EF4-FFF2-40B4-BE49-F238E27FC236}">
                <a16:creationId xmlns:a16="http://schemas.microsoft.com/office/drawing/2014/main" id="{E631D023-9BC2-FE55-F61D-FD3B3467226B}"/>
              </a:ext>
            </a:extLst>
          </p:cNvPr>
          <p:cNvPicPr>
            <a:picLocks noGrp="1" noChangeAspect="1"/>
          </p:cNvPicPr>
          <p:nvPr>
            <p:ph idx="1"/>
          </p:nvPr>
        </p:nvPicPr>
        <p:blipFill>
          <a:blip r:embed="rId2"/>
          <a:stretch>
            <a:fillRect/>
          </a:stretch>
        </p:blipFill>
        <p:spPr>
          <a:xfrm>
            <a:off x="886029" y="2171442"/>
            <a:ext cx="6762341" cy="3633787"/>
          </a:xfrm>
        </p:spPr>
      </p:pic>
      <p:pic>
        <p:nvPicPr>
          <p:cNvPr id="6" name="Picture 5">
            <a:extLst>
              <a:ext uri="{FF2B5EF4-FFF2-40B4-BE49-F238E27FC236}">
                <a16:creationId xmlns:a16="http://schemas.microsoft.com/office/drawing/2014/main" id="{5CF285C6-D307-6E84-73CF-C7197A53727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817620" y="946298"/>
            <a:ext cx="3995152" cy="5209546"/>
          </a:xfrm>
          <a:prstGeom prst="rect">
            <a:avLst/>
          </a:prstGeom>
        </p:spPr>
      </p:pic>
      <p:sp>
        <p:nvSpPr>
          <p:cNvPr id="7" name="TextBox 6">
            <a:extLst>
              <a:ext uri="{FF2B5EF4-FFF2-40B4-BE49-F238E27FC236}">
                <a16:creationId xmlns:a16="http://schemas.microsoft.com/office/drawing/2014/main" id="{78B48439-A76A-064E-BE7F-08E5B2D79ED6}"/>
              </a:ext>
            </a:extLst>
          </p:cNvPr>
          <p:cNvSpPr txBox="1"/>
          <p:nvPr/>
        </p:nvSpPr>
        <p:spPr>
          <a:xfrm>
            <a:off x="7817620" y="5376460"/>
            <a:ext cx="3995152" cy="230832"/>
          </a:xfrm>
          <a:prstGeom prst="rect">
            <a:avLst/>
          </a:prstGeom>
          <a:noFill/>
        </p:spPr>
        <p:txBody>
          <a:bodyPr wrap="square" rtlCol="0">
            <a:spAutoFit/>
          </a:bodyPr>
          <a:lstStyle/>
          <a:p>
            <a:endParaRPr lang="en-GB" sz="900" dirty="0"/>
          </a:p>
        </p:txBody>
      </p:sp>
    </p:spTree>
    <p:extLst>
      <p:ext uri="{BB962C8B-B14F-4D97-AF65-F5344CB8AC3E}">
        <p14:creationId xmlns:p14="http://schemas.microsoft.com/office/powerpoint/2010/main" val="117669604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{2C39F311-177F-4C05-B618-703976C74982}tf33552983_win32</Template>
  <TotalTime>104</TotalTime>
  <Words>244</Words>
  <Application>Microsoft Office PowerPoint</Application>
  <PresentationFormat>Widescreen</PresentationFormat>
  <Paragraphs>43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Franklin Gothic Book</vt:lpstr>
      <vt:lpstr>Franklin Gothic Demi</vt:lpstr>
      <vt:lpstr>Times New Roman</vt:lpstr>
      <vt:lpstr>Wingdings 2</vt:lpstr>
      <vt:lpstr>DividendVTI</vt:lpstr>
      <vt:lpstr>Railway management system</vt:lpstr>
      <vt:lpstr>Task Division</vt:lpstr>
      <vt:lpstr>Passenger</vt:lpstr>
      <vt:lpstr>Seat</vt:lpstr>
      <vt:lpstr>boogie</vt:lpstr>
      <vt:lpstr>Dining table</vt:lpstr>
      <vt:lpstr>Dining Car</vt:lpstr>
      <vt:lpstr>Engine</vt:lpstr>
      <vt:lpstr>Train</vt:lpstr>
      <vt:lpstr>feedback</vt:lpstr>
      <vt:lpstr>Ticket  Abstract Class having Polymorphism  generates ticket </vt:lpstr>
      <vt:lpstr>Payment Aggregated In Ticket payment across corresponding ticket</vt:lpstr>
      <vt:lpstr>Business Ticket Inherits From Ticket books business class ticket</vt:lpstr>
      <vt:lpstr>Lower AC Ticket Inherits From Ticket books Lower ac class ticket</vt:lpstr>
      <vt:lpstr>Local Ticket Inherits From Ticket books economy class ticket</vt:lpstr>
      <vt:lpstr>Ticket Management manages all tickets Adding And Removing Tickets handles filing</vt:lpstr>
      <vt:lpstr>Staff goes with train stays at station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Railway management system</dc:title>
  <dc:creator>lenovo</dc:creator>
  <cp:lastModifiedBy>Dell</cp:lastModifiedBy>
  <cp:revision>10</cp:revision>
  <dcterms:created xsi:type="dcterms:W3CDTF">2024-05-05T16:00:17Z</dcterms:created>
  <dcterms:modified xsi:type="dcterms:W3CDTF">2024-05-05T19:55:26Z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